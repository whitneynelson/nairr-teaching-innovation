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1005840"/>
          </a:xfrm>
          <a:prstGeom prst="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NAIRR Teaching Innovation Accelerator — Program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5995851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5995851" cy="777240"/>
          </a:xfrm>
          <a:prstGeom prst="roundRect">
            <a:avLst/>
          </a:prstGeom>
          <a:solidFill>
            <a:srgbClr val="5E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Pre-Event</a:t>
            </a:r>
          </a:p>
          <a:p>
            <a:pPr>
              <a:defRPr sz="1200">
                <a:solidFill>
                  <a:srgbClr val="F1DDE0"/>
                </a:solidFill>
              </a:defRPr>
            </a:pPr>
            <a:r>
              <a:t>Sun, Jul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194560"/>
            <a:ext cx="5721531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Create TACC account + MFA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Install Git, VS Code/Antigravity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Create GitHub account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Upload syllabus + policy checklist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Welcome reception, evening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8771" y="1280160"/>
            <a:ext cx="5995851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8771" y="1280160"/>
            <a:ext cx="5995851" cy="777240"/>
          </a:xfrm>
          <a:prstGeom prst="round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1</a:t>
            </a:r>
          </a:p>
          <a:p>
            <a:pPr>
              <a:defRPr sz="1200">
                <a:solidFill>
                  <a:srgbClr val="F1DDE0"/>
                </a:solidFill>
              </a:defRPr>
            </a:pPr>
            <a:r>
              <a:t>Mon, Jul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5931" y="2194560"/>
            <a:ext cx="5721531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Tour of NAIRR ecosystem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Set up course-site + course-toolkit repos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Connect Claude Code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Draft learning outcomes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Module 00-01, 02 (Part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723222" y="1280160"/>
            <a:ext cx="5995851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723222" y="1280160"/>
            <a:ext cx="5995851" cy="777240"/>
          </a:xfrm>
          <a:prstGeom prst="roundRect">
            <a:avLst/>
          </a:prstGeom>
          <a:solidFill>
            <a:srgbClr val="5E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2</a:t>
            </a:r>
          </a:p>
          <a:p>
            <a:pPr>
              <a:defRPr sz="1200">
                <a:solidFill>
                  <a:srgbClr val="F1DDE0"/>
                </a:solidFill>
              </a:defRPr>
            </a:pPr>
            <a:r>
              <a:t>Tue, Jul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60382" y="2194560"/>
            <a:ext cx="5721531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Build curriculum map &amp; schedule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Draft syllabus skeleton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HPC Acclimation Module 1 (Tapis)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Module Builder Part 1: outline + slides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Module 02 (Part 2), 03, 04 (Part 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947674" y="1280160"/>
            <a:ext cx="5995851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947674" y="1280160"/>
            <a:ext cx="5995851" cy="777240"/>
          </a:xfrm>
          <a:prstGeom prst="round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3</a:t>
            </a:r>
          </a:p>
          <a:p>
            <a:pPr>
              <a:defRPr sz="1200">
                <a:solidFill>
                  <a:srgbClr val="F1DDE0"/>
                </a:solidFill>
              </a:defRPr>
            </a:pPr>
            <a:r>
              <a:t>Wed, Jul 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84834" y="2194560"/>
            <a:ext cx="5721531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Dataset discovery for HPC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Module Builder Part 2: quiz + materials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Move data onto TACC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HPC Acclimation Modules 2-3 (Jupyter, monitoring)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Module 04 (Part 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72125" y="1280160"/>
            <a:ext cx="5995851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172125" y="1280160"/>
            <a:ext cx="5995851" cy="777240"/>
          </a:xfrm>
          <a:prstGeom prst="roundRect">
            <a:avLst/>
          </a:prstGeom>
          <a:solidFill>
            <a:srgbClr val="5E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4</a:t>
            </a:r>
          </a:p>
          <a:p>
            <a:pPr>
              <a:defRPr sz="1200">
                <a:solidFill>
                  <a:srgbClr val="F1DDE0"/>
                </a:solidFill>
              </a:defRPr>
            </a:pPr>
            <a:r>
              <a:t>Thu, Jul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09285" y="2194560"/>
            <a:ext cx="5721531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Grading scale &amp; rubrics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Exam scaffold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Office hours + Canva/Blackboard export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NAIRR/TACC access language for syllabus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Module 04 (Part 3), 05, 06, 08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396577" y="1280160"/>
            <a:ext cx="5995851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396577" y="1280160"/>
            <a:ext cx="5995851" cy="777240"/>
          </a:xfrm>
          <a:prstGeom prst="roundRect">
            <a:avLst/>
          </a:prstGeom>
          <a:solidFill>
            <a:srgbClr val="862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Day 5</a:t>
            </a:r>
          </a:p>
          <a:p>
            <a:pPr>
              <a:defRPr sz="1200">
                <a:solidFill>
                  <a:srgbClr val="F1DDE0"/>
                </a:solidFill>
              </a:defRPr>
            </a:pPr>
            <a:r>
              <a:t>Fri, Jul 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33737" y="2194560"/>
            <a:ext cx="5721531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Publish course site (GitHub Pages)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Reuse this template for next time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Build 90-day implementation plan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Program evaluation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Module 09, 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621028" y="1280160"/>
            <a:ext cx="5995851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621028" y="1280160"/>
            <a:ext cx="5995851" cy="777240"/>
          </a:xfrm>
          <a:prstGeom prst="roundRect">
            <a:avLst/>
          </a:prstGeom>
          <a:solidFill>
            <a:srgbClr val="5E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Departure</a:t>
            </a:r>
          </a:p>
          <a:p>
            <a:pPr>
              <a:defRPr sz="1200">
                <a:solidFill>
                  <a:srgbClr val="F1DDE0"/>
                </a:solidFill>
              </a:defRPr>
            </a:pPr>
            <a:r>
              <a:t>Sat, Aug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58188" y="2194560"/>
            <a:ext cx="5721531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Confirm public repo published, private repo private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Complete program evaluation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Join community-of-practice listserv</a:t>
            </a:r>
          </a:p>
          <a:p>
            <a:pPr>
              <a:spcAft>
                <a:spcPts val="600"/>
              </a:spcAft>
              <a:defRPr sz="1200">
                <a:solidFill>
                  <a:srgbClr val="2B2523"/>
                </a:solidFill>
              </a:defRPr>
            </a:pPr>
            <a:r>
              <a:t>•  Travel 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