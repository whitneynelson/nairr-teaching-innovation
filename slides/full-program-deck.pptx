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6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noFill/>
          <a:ln w="31750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4206240"/>
            <a:ext cx="5486400" cy="5486400"/>
          </a:xfrm>
          <a:prstGeom prst="ellipse">
            <a:avLst/>
          </a:prstGeom>
          <a:noFill/>
          <a:ln w="31750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5760720"/>
            <a:ext cx="1005840" cy="1005840"/>
          </a:xfrm>
          <a:prstGeom prst="ellipse">
            <a:avLst/>
          </a:prstGeom>
          <a:noFill/>
          <a:ln w="19050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NAIRR Teaching and Curriculum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F1DDE0"/>
                </a:solidFill>
                <a:latin typeface="Calibri"/>
              </a:rPr>
              <a:t>Cohort 3 · July 26 – August 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1DDE0"/>
                </a:solidFill>
                <a:latin typeface="Calibri"/>
              </a:rPr>
              <a:t>Morehouse Supercomputing Facility  •  Building HBCU Courses with AI &amp; HPC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937760"/>
            <a:ext cx="2743200" cy="457200"/>
          </a:xfrm>
          <a:prstGeom prst="roundRect">
            <a:avLst>
              <a:gd name="adj" fmla="val 6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Full Program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Program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216152"/>
            <a:ext cx="8321040" cy="3163824"/>
          </a:xfrm>
          <a:prstGeom prst="roundRect">
            <a:avLst>
              <a:gd name="adj" fmla="val 4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8321040" cy="31638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0160"/>
                <a:gridCol w="5760720"/>
              </a:tblGrid>
              <a:tr h="384048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Pre-Event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Sun, Jul 26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Account setup and software installs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Mon, Jul 27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Tour of NAIRR; set up repos &amp; environment; draft learning outcomes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Day 2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Tue, Jul 28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Curriculum map; syllabus draft; HPC with Vista and Tapis; module builder pt. 1; faculty panels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Day 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Wed, Jul 29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Dataset discovery; quiz &amp; assignment material; Jupyter on HPC; grading scale &amp; rubrics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Day 4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Thu, Jul 30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Case study; exam scaffold; finish your module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Day 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Fri, Jul 31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Publish course site; office hours setup; 90-day plan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Departure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Sat, Aug 1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23"/>
                          </a:solidFill>
                          <a:latin typeface="Calibri"/>
                        </a:rPr>
                        <a:t>Final checklist and travel home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Program &amp; Team</a:t>
            </a:r>
          </a:p>
        </p:txBody>
      </p:sp>
      <p:sp>
        <p:nvSpPr>
          <p:cNvPr id="6" name="Oval 5"/>
          <p:cNvSpPr/>
          <p:nvPr/>
        </p:nvSpPr>
        <p:spPr>
          <a:xfrm>
            <a:off x="859536" y="1371600"/>
            <a:ext cx="822960" cy="822960"/>
          </a:xfrm>
          <a:prstGeom prst="ellipse">
            <a:avLst/>
          </a:prstGeom>
          <a:solidFill>
            <a:srgbClr val="8626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3716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5E1A24"/>
                </a:solidFill>
                <a:latin typeface="Calibri"/>
              </a:rPr>
              <a:t>Dr. Kinnis Gosha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69748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6260"/>
                </a:solidFill>
                <a:latin typeface="Calibri"/>
              </a:rPr>
              <a:t>Program Lead; Executive Director, Morehouse CBPC</a:t>
            </a:r>
          </a:p>
        </p:txBody>
      </p:sp>
      <p:sp>
        <p:nvSpPr>
          <p:cNvPr id="10" name="Oval 9"/>
          <p:cNvSpPr/>
          <p:nvPr/>
        </p:nvSpPr>
        <p:spPr>
          <a:xfrm>
            <a:off x="2487168" y="1371600"/>
            <a:ext cx="822960" cy="822960"/>
          </a:xfrm>
          <a:prstGeom prst="ellipse">
            <a:avLst/>
          </a:prstGeom>
          <a:solidFill>
            <a:srgbClr val="8626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3716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RJ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2" y="2331720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5E1A24"/>
                </a:solidFill>
                <a:latin typeface="Calibri"/>
              </a:rPr>
              <a:t>Dr. Renée Jordan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7984" y="269748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6260"/>
                </a:solidFill>
                <a:latin typeface="Calibri"/>
              </a:rPr>
              <a:t>Instructor; Associate Director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1371600"/>
            <a:ext cx="822960" cy="822960"/>
          </a:xfrm>
          <a:prstGeom prst="ellipse">
            <a:avLst/>
          </a:prstGeom>
          <a:solidFill>
            <a:srgbClr val="8626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3716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2331720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5E1A24"/>
                </a:solidFill>
                <a:latin typeface="Calibri"/>
              </a:rPr>
              <a:t>Prof. Whitney Nelson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6" y="269748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6260"/>
                </a:solidFill>
                <a:latin typeface="Calibri"/>
              </a:rPr>
              <a:t>Instructor; Research Scientist</a:t>
            </a:r>
          </a:p>
        </p:txBody>
      </p:sp>
      <p:sp>
        <p:nvSpPr>
          <p:cNvPr id="18" name="Oval 17"/>
          <p:cNvSpPr/>
          <p:nvPr/>
        </p:nvSpPr>
        <p:spPr>
          <a:xfrm>
            <a:off x="5742432" y="1371600"/>
            <a:ext cx="822960" cy="822960"/>
          </a:xfrm>
          <a:prstGeom prst="ellipse">
            <a:avLst/>
          </a:prstGeom>
          <a:solidFill>
            <a:srgbClr val="8626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3716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331720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5E1A24"/>
                </a:solidFill>
                <a:latin typeface="Calibri"/>
              </a:rPr>
              <a:t>Dr. Ashley Scruse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69748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6260"/>
                </a:solidFill>
                <a:latin typeface="Calibri"/>
              </a:rPr>
              <a:t>Instructor; Deputy Director, Supercomputing Facility</a:t>
            </a:r>
          </a:p>
        </p:txBody>
      </p:sp>
      <p:sp>
        <p:nvSpPr>
          <p:cNvPr id="22" name="Oval 21"/>
          <p:cNvSpPr/>
          <p:nvPr/>
        </p:nvSpPr>
        <p:spPr>
          <a:xfrm>
            <a:off x="7370064" y="1371600"/>
            <a:ext cx="822960" cy="822960"/>
          </a:xfrm>
          <a:prstGeom prst="ellipse">
            <a:avLst/>
          </a:prstGeom>
          <a:solidFill>
            <a:srgbClr val="86263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13716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331720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5E1A24"/>
                </a:solidFill>
                <a:latin typeface="Calibri"/>
              </a:rPr>
              <a:t>Cerrice Dawson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69748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6260"/>
                </a:solidFill>
                <a:latin typeface="Calibri"/>
              </a:rPr>
              <a:t>Program Coordinator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49039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E1A24"/>
                </a:solidFill>
                <a:latin typeface="Calibri"/>
              </a:rPr>
              <a:t>Who this is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>
                <a:solidFill>
                  <a:srgbClr val="862633"/>
                </a:solidFill>
                <a:latin typeface="Calibri"/>
              </a:rPr>
              <a:t>●  </a:t>
            </a:r>
            <a:r>
              <a:rPr sz="1350" b="0">
                <a:solidFill>
                  <a:srgbClr val="2B2523"/>
                </a:solidFill>
                <a:latin typeface="Calibri"/>
              </a:rPr>
              <a:t>Open to instructors across every discipline and skill level; no prior coding experience required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>
                <a:solidFill>
                  <a:srgbClr val="862633"/>
                </a:solidFill>
                <a:latin typeface="Calibri"/>
              </a:rPr>
              <a:t>●  </a:t>
            </a:r>
            <a:r>
              <a:rPr sz="1350" b="0">
                <a:solidFill>
                  <a:srgbClr val="2B2523"/>
                </a:solidFill>
                <a:latin typeface="Calibri"/>
              </a:rPr>
              <a:t>If you code: your AI coding assistant speeds up writing and debugging the scripts your students run on HPC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>
                <a:solidFill>
                  <a:srgbClr val="862633"/>
                </a:solidFill>
                <a:latin typeface="Calibri"/>
              </a:rPr>
              <a:t>●  </a:t>
            </a:r>
            <a:r>
              <a:rPr sz="1350" b="0">
                <a:solidFill>
                  <a:srgbClr val="2B2523"/>
                </a:solidFill>
                <a:latin typeface="Calibri"/>
              </a:rPr>
              <a:t>If you don't code: your AI coding assistant writes those scripts for you, in plain English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Two-Repo Model,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490472"/>
            <a:ext cx="3840480" cy="2377440"/>
          </a:xfrm>
          <a:prstGeom prst="roundRect">
            <a:avLst>
              <a:gd name="adj" fmla="val 8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840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840480" cy="457200"/>
          </a:xfrm>
          <a:prstGeom prst="roundRect">
            <a:avLst>
              <a:gd name="adj" fmla="val 6000"/>
            </a:avLst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course-site (PUBLIC)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383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B2523"/>
                </a:solidFill>
                <a:latin typeface="Calibri"/>
              </a:rPr>
              <a:t>Everything a student will eventually see: syllabus, schedule, modules,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82312" y="1490472"/>
            <a:ext cx="3840480" cy="2377440"/>
          </a:xfrm>
          <a:prstGeom prst="roundRect">
            <a:avLst>
              <a:gd name="adj" fmla="val 8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1463040"/>
            <a:ext cx="3840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1463040"/>
            <a:ext cx="3840480" cy="457200"/>
          </a:xfrm>
          <a:prstGeom prst="roundRect">
            <a:avLst>
              <a:gd name="adj" fmla="val 6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course-toolkit (PRIVATE)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103120"/>
            <a:ext cx="3383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B2523"/>
                </a:solidFill>
                <a:latin typeface="Calibri"/>
              </a:rPr>
              <a:t>Grading, exams, attendance, real prep notes. Never gets published.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8046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523"/>
                </a:solidFill>
                <a:latin typeface="Calibri"/>
              </a:rPr>
              <a:t>Both repos are cloned as sibling folders and opened together. Your AI coding assistant reads CLAUDE.md and skills/ in course-site for context, then writes into both repos as you work through each module this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Pre-Event: Before You Arrive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589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Request your Morehouse Supercomputing Facility account (.edu email; approval can take a few business days); set up MFA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Choose your setup: Option A — Git + VS Code/Antigravity + Claude Code, or Option B — GitHub Desktop + Claude Desktop (no IDE)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Create a free GitHub account (or confirm your institution's GitHub Education org)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Create a free Calendly account (optional, needed Day 3)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Upload your current syllabus (or the model syllabus) plus your institution's policy checklist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Check with your LMS admin whether Canva–Blackboard LTI is enabled, if you want it live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Pre-Event · Sunday, July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noFill/>
          <a:ln w="25400">
            <a:solidFill>
              <a:srgbClr val="86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4937760"/>
            <a:ext cx="4754880" cy="4754880"/>
          </a:xfrm>
          <a:prstGeom prst="ellipse">
            <a:avLst/>
          </a:prstGeom>
          <a:noFill/>
          <a:ln w="25400">
            <a:solidFill>
              <a:srgbClr val="86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548640"/>
            <a:ext cx="1463040" cy="146304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286000" cy="502920"/>
          </a:xfrm>
          <a:prstGeom prst="roundRect">
            <a:avLst>
              <a:gd name="adj" fmla="val 6000"/>
            </a:avLst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Set Up | GitHub Course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1DDE0"/>
                </a:solidFill>
                <a:latin typeface="Calibri"/>
              </a:rPr>
              <a:t>Monday, July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Day 1: Today's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124712"/>
            <a:ext cx="8321040" cy="3547872"/>
          </a:xfrm>
          <a:prstGeom prst="roundRect">
            <a:avLst>
              <a:gd name="adj" fmla="val 4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8321040" cy="3547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82296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766560"/>
              </a:tblGrid>
              <a:tr h="38404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9:30–10:00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Arrival, coffee, informal networking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10:00–10:30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Welcome, daily agenda review &amp; introductions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10:30–12:30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What is NAIRR? Tour of the ecosystem. Set up course-builder repos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12:30–1:30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Lunch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1:30–2:00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What goes into AI &amp; a shared repo; what's safe, what's not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2:00–2:15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Scale-first design: creating assignments &amp; courses for HPC; why HPC?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2:15–3:00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Creating and mapping your learning outcomes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7:00–8:00 PM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All White Party (evening)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Monday, July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What Is NAIRR?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The National Artificial Intelligence Research Resource (NAIRR) Pilot connects researchers and educators to compute, cloud, and AI resources they wouldn't otherwise have access to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This accelerator introduces you to NAIRR as one of the resources you'll use this week: five days building a real HPC- and AI-scaffolded course, using your AI coding assistant to do the technical heavy lifting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NAIRR also offers ongoing access beyond this week; AI credits, compute time, and continued programs for qualifying researchers and educators — see nairrpilot.org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Today's goal: understand the ecosystem you're now part of, then start building inside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What Is NAIRR?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What Is Supercomputing? Why TACC / Vista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5778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577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5778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A supercomputer isn't one very fast computer — it's thousands of processors working together on the same problem at once, coordinated by scheduling software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The Morehouse Supercomputing Facility's allocation runs on the Vista system at the Texas Advanced Computing Center (TACC), one of the most powerful academic research-computing centers in the world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1">
                <a:solidFill>
                  <a:srgbClr val="2B2523"/>
                </a:solidFill>
                <a:latin typeface="Calibri"/>
              </a:rPr>
              <a:t>Not all processors are the same: CPUs handle general-purpose, sequential work; GPUs repeat one simple calculation across thousands of parallel threads at once — exactly what training a neural network needs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Reach for CPU: a statistical regression on economic data, a rule-based search across case files, most spreadsheet-style or survey analysis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Reach for GPU: training a sentiment classifier on student writing, an image classifier for forensic evidence, fine-tuning a language model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Everything flagged "HPC-based" this week ultimately runs on one of Vista's two node types — more on that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What Is Supercomputing?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Vista System Topology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Vista is organized as a two-level fat-tree network connecting two compute subsystems, plus shared storage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Login nodes — where you land, edit files, and submit jobs; GG-based, same 144-core architecture as GG compute nodes. You never run heavy computation here.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GG subsystem (Grace-Grace): 256 CPU-only nodes across 4 racks, 144 cores each, ~237 GB memory per node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GH subsystem (Grace-Hopper): 600 nodes across 19 racks, each pairing one NVIDIA H200 GPU (96 GB) with one Grace CPU (72 cores)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Both subsystems connect via NVIDIA InfiniBand NDR; GH nodes get double the network bandwidth of GG (400 vs. 200 Gb/s)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Vista System Topology · source: docs.tacc.utexas.edu/hpc/vista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Vista Topology —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23444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F1DDE0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075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5E1A24"/>
                </a:solidFill>
                <a:latin typeface="Calibri"/>
              </a:rPr>
              <a:t>LOGIN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1848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GG-based · 144 cores/node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Where you connect, edit, submit jobs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377440" y="2011680"/>
            <a:ext cx="2194560" cy="731520"/>
          </a:xfrm>
          <a:prstGeom prst="line">
            <a:avLst/>
          </a:prstGeom>
          <a:ln w="19050">
            <a:solidFill>
              <a:srgbClr val="5E1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011680"/>
            <a:ext cx="2194560" cy="731520"/>
          </a:xfrm>
          <a:prstGeom prst="line">
            <a:avLst/>
          </a:prstGeom>
          <a:ln w="19050">
            <a:solidFill>
              <a:srgbClr val="5E1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74320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5E1A24"/>
                </a:solidFill>
                <a:latin typeface="Calibri"/>
              </a:rPr>
              <a:t>GG SUBSYSTEM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27248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256 CPU-only nodes · 4 racks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144 cores · ~237 GB mem / node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7+ TFlops FP64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74320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5E1A24"/>
                </a:solidFill>
                <a:latin typeface="Calibri"/>
              </a:rPr>
              <a:t>GH SUBSYSTEM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127248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600 GPU nodes · 19 racks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1 H200 GPU + 1 Grace CPU / node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1979 TFlops FP16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3794760"/>
            <a:ext cx="2194560" cy="640080"/>
          </a:xfrm>
          <a:prstGeom prst="line">
            <a:avLst/>
          </a:prstGeom>
          <a:ln w="19050">
            <a:solidFill>
              <a:srgbClr val="5E1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572000" y="3794760"/>
            <a:ext cx="2194560" cy="640080"/>
          </a:xfrm>
          <a:prstGeom prst="line">
            <a:avLst/>
          </a:prstGeom>
          <a:ln w="19050">
            <a:solidFill>
              <a:srgbClr val="5E1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280160" y="3794760"/>
            <a:ext cx="6583680" cy="640080"/>
          </a:xfrm>
          <a:prstGeom prst="roundRect">
            <a:avLst>
              <a:gd name="adj" fmla="val 8000"/>
            </a:avLst>
          </a:prstGeom>
          <a:solidFill>
            <a:srgbClr val="F1DDE0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86791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5E1A24"/>
                </a:solidFill>
                <a:latin typeface="Calibri"/>
              </a:rPr>
              <a:t>NVIDIA INFINIBAND NDR FABRIC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7880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GG: 200 Gb/s uplinks · GH: 400 Gb/s uplinks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470916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478231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5E1A24"/>
                </a:solidFill>
                <a:latin typeface="Calibri"/>
              </a:rPr>
              <a:t>SHARED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0932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$HOME + $SCRATCH via VAST Data NFS flash storage,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accessible from both subsystems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064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260"/>
                </a:solidFill>
                <a:latin typeface="Calibri"/>
              </a:rPr>
              <a:t>Original schematic based on published specs; see docs.tacc.utexas.edu/hpc/vista/#system-topology for TACC's authoritative diagram.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Vista Topology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Storing Data on Vista: Why It's Worth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5778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577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5778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Enterprise-grade, redundant storage — not a single laptop hard drive that can fail, get lost, or run out of space mid-semester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Storage sits right next to the compute — no repeated uploading and downloading between where your data lives and where it actually gets processed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Capacity far beyond a laptop: datasets too large to fit on personal hardware are routine here, not an exception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Persistent across sessions — your data and environment are still there the next time you log in, no re-setup required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Institutionally backed and secured — appropriate for the kind of research and student data this program takes seriously protecting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50">
                <a:solidFill>
                  <a:srgbClr val="862633"/>
                </a:solidFill>
                <a:latin typeface="Calibri"/>
              </a:rPr>
              <a:t>●  </a:t>
            </a:r>
            <a:r>
              <a:rPr sz="1450" b="0">
                <a:solidFill>
                  <a:srgbClr val="2B2523"/>
                </a:solidFill>
                <a:latin typeface="Calibri"/>
              </a:rPr>
              <a:t>Where exactly to put what — home vs. scratch vs. work — comes Day 2, once you're actually logging in and running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Storing Data on Vista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Good Conduct on Vista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The core principle: what you do on the resource affects hundreds of other users sharing it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Never run jobs or intensive computation on login nodes — use batch queues or an idev session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Avoid I/O-heavy work in $WORK; stage through $SCRATCH instead, and use .tar archives instead of transferring many small files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All AI-assisted workloads must run on compute nodes; you're responsible for everything an AI agent launches on your behalf, and all Service Units consumed charge to your allocation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Consequence: “Your account may be suspended if your jobs are impacting other users.”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Good Conduct · source: docs.tacc.utexas.edu/basics/conduct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File Structure for AI: The Two-Repo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Every course you build this week lives in two GitHub repos, opened together: course-site (public) and course-toolkit (private)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This isn't just storage — it's the environment your AI coding assistant works inside all week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course-site ships with a CLAUDE.md (root operating instructions) and a skills/ folder (step-by-step guides); your assistant reads both automatically for context before each module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A well-documented repo — clear READMEs, decisions written down, explicit public/private boundaries — gives your AI coding assistant the same context a new human collaborator would need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The more your repo documents itself, the less you have to re-explain in every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Why Repo Structure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Two-Repo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3566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5E1A24"/>
                </a:solidFill>
                <a:latin typeface="Calibri"/>
              </a:rPr>
              <a:t>course-site (PUBLIC)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3566159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syllabus.md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schedule.md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modules/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resources.md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office-hours.md</a:t>
            </a:r>
          </a:p>
          <a:p>
            <a:pPr algn="ctr">
              <a:lnSpc>
                <a:spcPct val="115000"/>
              </a:lnSpc>
            </a:pP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CLAUDE.md + skills/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(Claude reads these for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step-by-step context)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28016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353312"/>
            <a:ext cx="3566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5E1A24"/>
                </a:solidFill>
                <a:latin typeface="Calibri"/>
              </a:rPr>
              <a:t>course-toolkit (PRIVATE)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64208"/>
            <a:ext cx="3566159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grading-scale.md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rubrics/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exams/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quizzes/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lecture-prep-notes/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B2523"/>
                </a:solidFill>
                <a:latin typeface="Calibri"/>
              </a:rPr>
              <a:t>grading-and-attendance/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97680" y="2651760"/>
            <a:ext cx="548640" cy="0"/>
          </a:xfrm>
          <a:prstGeom prst="line">
            <a:avLst/>
          </a:prstGeom>
          <a:ln w="19050">
            <a:solidFill>
              <a:srgbClr val="5E1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0" y="23317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writes</a:t>
            </a:r>
          </a:p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into both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4297680"/>
            <a:ext cx="4206240" cy="1005840"/>
          </a:xfrm>
          <a:prstGeom prst="roundRect">
            <a:avLst>
              <a:gd name="adj" fmla="val 6000"/>
            </a:avLst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4434840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Your AI Coding Assistant</a:t>
            </a:r>
          </a:p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reads CLAUDE.md + skills/, writes into both repos as you work through each module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23160" y="4023360"/>
            <a:ext cx="960120" cy="274320"/>
          </a:xfrm>
          <a:prstGeom prst="line">
            <a:avLst/>
          </a:prstGeom>
          <a:ln w="19050">
            <a:solidFill>
              <a:srgbClr val="5E1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760720" y="4023360"/>
            <a:ext cx="960120" cy="274320"/>
          </a:xfrm>
          <a:prstGeom prst="line">
            <a:avLst/>
          </a:prstGeom>
          <a:ln w="19050">
            <a:solidFill>
              <a:srgbClr val="5E1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Two-Repo Model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00-01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Setting Up Your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Create both repos from the template (“Use this template”); course-site → Public, course-toolkit → Private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Option A: Git + VS Code or Antigravity, then the Claude Code extension (or CLI fallback)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Option B: GitHub Desktop for cloning/committing, Claude Desktop with the Filesystem connector enabled for reading/writing files — no IDE, no terminal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Clone both repos as sibling folders, opened together — every later module assumes this layout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Both paths reach the same place by the end of the week; pick based on comfort with a code editor, not on coding ability itself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Module 00–01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00-01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Test Prompt &amp; 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Send one test prompt to confirm the connection: coders can ask it to explain a file in the repo; non-coders can ask for a one-line Slurm script with an explanation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Checkpoint before lunch: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  ✓ course-site (public) and course-toolkit (private) created and cloned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  ✓ Both folders open together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  ✓ Claude connected — Code (Option A) or Desktop + Filesystem connector (Option B)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  ✓ Test prompt sent successfully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Module 00–01 Checkpoint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What Goes Into AI &amp; a Shared Repo: What's Safe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course-site is PUBLIC the moment GitHub Pages is turned on — treat everything you paste into it, or into a prompt that writes to it, as visible to the world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Safe to share: syllabus language, schedule/topics, published assignment prompts, public datasets, your own original lecture material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Course-toolkit stays private — grading keys, rubrics, real student data, and prep notes belong there, never in course-site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When in doubt, draft in course-toolkit first and move only the public-safe version 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What's Safe, What's Not (1/2)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What Goes Into AI &amp; a Shared Repo: What's Not Safe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Never paste identifiable student data into any AI tool, public or private, without de-identifying it first (name, ID, email removed or replaced)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Answer keys, rubric scoring detail, and grading weights never belong in course-site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This framing carries through the whole week — it resurfaces directly in Day 3's AI-use rubric and Day 5's pre-publish leak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What's Safe, What's Not (2/2)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Scale-First Design: Why HPC?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Not every assignment needs a supercomputer — the goal today is learning to tell the difference, not defaulting to HPC because it's available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HPC earns its place when an assignment needs scale (a dataset too big for a laptop), speed (a simulation that would take hours becomes minutes), or parallelism (the same computation repeated across many configurations at once)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If a task runs fine locally, the HPC framing should move to a different part of the course, not be forced onto this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Scale-First Design (1/2)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Framing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Before building any HPC-based assignment this week, answer this in one sentence: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“What specifically requires HPC here — scale, speed, or parallelism?”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Can't answer it in one sentence? The assignment likely works fine on a laptop — and that's a useful finding, not a failure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This question comes back explicitly in the Sample Assignments resource and in every Module Builder session 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Scale-First Design (2/2)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Creating and Mapping Your Learning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B2523"/>
                </a:solidFill>
                <a:latin typeface="Calibri"/>
              </a:rPr>
              <a:t>Draft 3–5 learning outcomes for your course, one at a time — at least one must involve using HPC resources. For each, note the assessment type and whether it's HPC-based.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084832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45720" cy="237744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92440" y="1892807"/>
            <a:ext cx="502920" cy="502920"/>
          </a:xfrm>
          <a:prstGeom prst="ellipse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892807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40280"/>
            <a:ext cx="7589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B2523"/>
                </a:solidFill>
                <a:latin typeface="Calibri"/>
              </a:rPr>
              <a:t>“Help me write learning outcomes for a [course topic] course. Students range from [prior experience]. I want at least one outcome that involves using HPC resources.”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260"/>
                </a:solidFill>
                <a:latin typeface="Calibri"/>
              </a:rPr>
              <a:t>Already have outcomes drafted? Paste them in and ask your AI coding assistant to map them against the HPC requirement instead of starting from scratch. Feeds: course-toolkit/learning-outcomes-map.md.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1 · Module 02, Part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noFill/>
          <a:ln w="25400">
            <a:solidFill>
              <a:srgbClr val="86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4937760"/>
            <a:ext cx="4754880" cy="4754880"/>
          </a:xfrm>
          <a:prstGeom prst="ellipse">
            <a:avLst/>
          </a:prstGeom>
          <a:noFill/>
          <a:ln w="25400">
            <a:solidFill>
              <a:srgbClr val="86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548640"/>
            <a:ext cx="1463040" cy="146304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286000" cy="502920"/>
          </a:xfrm>
          <a:prstGeom prst="roundRect">
            <a:avLst>
              <a:gd name="adj" fmla="val 6000"/>
            </a:avLst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HPC Acclimation + Curriculum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1DDE0"/>
                </a:solidFill>
                <a:latin typeface="Calibri"/>
              </a:rPr>
              <a:t>Tuesday, July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Day 2: Today's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124712"/>
            <a:ext cx="8321040" cy="4315968"/>
          </a:xfrm>
          <a:prstGeom prst="roundRect">
            <a:avLst>
              <a:gd name="adj" fmla="val 4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8321040" cy="4315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82296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766560"/>
              </a:tblGrid>
              <a:tr h="38404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10:00–10:15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Daily agenda review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10:15–11:00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Build your curriculum map &amp; schedule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11:00–12:00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Faculty Fellows Panel I: Designing AI Learning Experiences Across Disciplines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12:00–12:30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Draft your syllabus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12:30–1:30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Lunch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1:30–2:00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HPC with Vista: architecture, filesystem, and SSH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2:00–2:30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Module 1: Getting acclimated via TAP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2:30–3:00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Module Builder, Part 1: lecture outline + slide deck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3:00–4:00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Faculty Fellows Panel II: Implementing, Evaluating, and Scaling AI Education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5:30 PM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Cielo Beach Club (evening)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Tuesday, July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Build Your Curriculum Map &amp;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B2523"/>
                </a:solidFill>
                <a:latin typeface="Calibri"/>
              </a:rPr>
              <a:t>Working from yesterday's learning outcomes, sequence your course week by week (or module by module), noting where the HPC-based assignment should land.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084832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45720" cy="237744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92440" y="1892807"/>
            <a:ext cx="502920" cy="502920"/>
          </a:xfrm>
          <a:prstGeom prst="ellipse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892807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40280"/>
            <a:ext cx="7589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B2523"/>
                </a:solidFill>
                <a:latin typeface="Calibri"/>
              </a:rPr>
              <a:t>“Given these learning outcomes [paste table], suggest a logical order across N weeks, noting where the HPC-based assignment should land.”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260"/>
                </a:solidFill>
                <a:latin typeface="Calibri"/>
              </a:rPr>
              <a:t>Then publish the public-facing version — topic and due dates only, no grading detail — into course-site/schedule.md.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Module 02, Part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Faculty Panel I: Designing AI Learning Experiences Across Disciplines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11:00 AM – 12:00 PM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Dr. Feseha Abebe-Akele — Assistant Professor of Genetics, Elizabeth City State University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Dr. Edgar J. Lobaton — Director, Applied AI Initiative in Engineering &amp; CS, NC State University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Dr. Oyebade Kunle Oyerinde — Special Assistant to the Provost for AI, Data &amp; Analytics, Clark Atlanta University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Dr. Diane Uwacu — Assistant Professor, Computer Science, Mount Holyoke College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Faculty Panel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Draft Your Syllabus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B2523"/>
                </a:solidFill>
                <a:latin typeface="Calibri"/>
              </a:rPr>
              <a:t>A 30-minute session that produces a draft skeleton, not a finished syllabus. Start from your existing syllabus or the model syllabus provided.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084832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45720" cy="237744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92440" y="1892807"/>
            <a:ext cx="502920" cy="502920"/>
          </a:xfrm>
          <a:prstGeom prst="ellipse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892807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40280"/>
            <a:ext cx="7589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B2523"/>
                </a:solidFill>
                <a:latin typeface="Calibri"/>
              </a:rPr>
              <a:t>“Adapt this model syllabus for a [course topic] course with these learning outcomes: [paste from learning-outcomes-map.md].”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260"/>
                </a:solidFill>
                <a:latin typeface="Calibri"/>
              </a:rPr>
              <a:t>Pull in your outcomes summary and schedule link. Leave explicit placeholders for HPC access language and grading policy — both get filled in later this week.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Module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HPC with Vista: Login vs. Compute Nodes, in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You'll land on a login node every time you connect — this is for editing files, managing jobs, and light tasks only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Actual computation always happens on compute nodes, reached through a batch job (sbatch) or an interactive session (idev) — never by running heavy work directly on login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This is a policy, not just a suggestion — running compute-intensive work on a login node affects everyone else connected to it at the same time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Today's goal: get comfortable with that boundary before Wednesday's hands-on Jupyter and job-monitoring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HPC with Vista (1/3)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HPC with Vista: Filesystem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Three directories, three purposes — knowing which one to use prevents most first-week HPC mistakes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$HOME — small and persistent. Config files, small personal scripts. Not for job data.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$SCRATCH — large, fast, temporary. Stage your data here, run the job, move results out before the 10-day purge.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$WORK — shared across the whole system. Reserve for project-level storage, not active I/O — heavy use here slows down every other TACC user, not just you.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Rule of thumb for this week's assignments: dataset lands in $SCRATCH, job runs from $SCRATCH, results get copied out before you're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HPC with Vista (2/3)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HPC with Vista: Connecting via SSH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Most of this week's access happens through your browser and Tapis — covered in Module 00–01 and this afternoon's TAP session — so you won't need to hand-configure SSH just to get started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If your program setup calls for a direct SSH client: Mac/Linux terminals have one built in; Windows users can use PuTTY or the Git Bash terminal that ships with Git for Windows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Confirm your exact login endpoint with your program contact — this can vary by cohort and shouldn't be guessed at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Full path from account request to first login: see “Accessing the Morehouse Supercomputing Facility via TAPIS”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HPC with Vista (3/3)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HPC ACCLIM.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Module 1: What TAP Is &amp; 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TAP (the TACC Analysis Portal) is the point-and-click way to get an interactive session on a compute node — no command line required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Think of it as the browser equivalent of running idev from the terminal — same interactive session, nothing to type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Why TAP specifically, not raw SSH/command line: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Easier for non-coders: no Linux commands, no manual SSH session to configure; log in, pick Vista, and launch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Easier for students: the same simplicity extends to your class, not just to you; a student who's never touched a terminal can still submit a real HPC job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A clean UI: TAP gives you a web-based interface for launching and tracking interactive sessions, instead of a bare terminal prompt with no visual feedback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This afternoon is hands-on: you'll walk through an actual example rather than reading about the concepts in the 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Module 1: TAP (1/2)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HPC ACCLIM.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Module 1: TAP — Launching idev, Step by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1. Log in at tap.tacc.utexas.edu with your TACC username, password, and MFA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2. Select Vista as the system, then choose New Session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3. Configure: application = idev, your allocation, the development queue, 1 node, a short time limit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4. Submit, wait for it to move from queued to running, then click Connect for a live terminal on the compute node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Reference: Launching an idev Session on the TAP Analysis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Module 1: TAP (2/2) · resources/idev-tap-portal.html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Module Builder, Part 1: Lecture Outline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B2523"/>
                </a:solidFill>
                <a:latin typeface="Calibri"/>
              </a:rPr>
              <a:t>Pick one module from your curriculum map to build fully, end to end — the repeatable pattern you'll copy for every other module later.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084832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45720" cy="237744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92440" y="1892807"/>
            <a:ext cx="502920" cy="502920"/>
          </a:xfrm>
          <a:prstGeom prst="ellipse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892807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40280"/>
            <a:ext cx="7589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B2523"/>
                </a:solidFill>
                <a:latin typeface="Calibri"/>
              </a:rPr>
              <a:t>“Draft a lecture outline for [module topic], covering [outcome]. Include a short intro, 2-3 core concepts, and a wrap-up tying to the HPC assignment.”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260"/>
                </a:solidFill>
                <a:latin typeface="Calibri"/>
              </a:rPr>
              <a:t>Split public vs. private: outline + slides link go in course-site/modules/module-XX.md; full prep notes stay in course-toolkit/lecture-prep-notes/.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Module 04, Part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Faculty Panel II: Implementing, Evaluating, and Scaling AI 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3:00 – 4:00 PM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Dr. Debanjali Banerjee — Assistant Professor of Computer Science, Earlham College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Dr. Mia Champion — Assistant Teaching Professor, Computing &amp; Software Systems, University of Washington Bothell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Dr. Vanessa D'Amario — Assistant Professor, Nova Southeastern University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Dr. Ananya Jana — Assistant Professor, Computer Science, Marshall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2 · Faculty Panel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noFill/>
          <a:ln w="25400">
            <a:solidFill>
              <a:srgbClr val="86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4937760"/>
            <a:ext cx="4754880" cy="4754880"/>
          </a:xfrm>
          <a:prstGeom prst="ellipse">
            <a:avLst/>
          </a:prstGeom>
          <a:noFill/>
          <a:ln w="25400">
            <a:solidFill>
              <a:srgbClr val="86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548640"/>
            <a:ext cx="1463040" cy="146304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286000" cy="502920"/>
          </a:xfrm>
          <a:prstGeom prst="roundRect">
            <a:avLst>
              <a:gd name="adj" fmla="val 6000"/>
            </a:avLst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AI for Calculations, Grading Scale + Module Builder Continues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1DDE0"/>
                </a:solidFill>
                <a:latin typeface="Calibri"/>
              </a:rPr>
              <a:t>Wednesday, July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Day 3: Today's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124712"/>
            <a:ext cx="8321040" cy="3547872"/>
          </a:xfrm>
          <a:prstGeom prst="roundRect">
            <a:avLst>
              <a:gd name="adj" fmla="val 4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8321040" cy="3547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82296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766560"/>
              </a:tblGrid>
              <a:tr h="38404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10:00–10:15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Daily agenda review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10:15–10:30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Dataset discovery for HPC; where to find data in your domain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10:30–11:30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Accessing Morehouse TAPIS, Using an AI coding assistant for API data extraction, moving data onto HPC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11:30–12:30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Module Builder, Part 2: quiz + assignment supplementary material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12:30–1:30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Lunch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1:30–2:30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HPC Acclimation Module 2: Jupyter via TAP (idev). Module 3: monitoring jobs &amp; output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2:30–3:00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Build your grading scale &amp; rubrics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Evening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Souvenir shopping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Wednesday, July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Dataset Discovery: Where to Look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General repositories: data.gov, Kaggle Datasets, Google Dataset Search, Hugging Face Datasets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Discipline-specific: genomics (NCBI/GEO), climate (NOAA), social science (ICPSR), astronomy (NASA/MAST), economics/finance (FRED, World Bank, SEC EDGAR), education (NCES, IPEDS)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Ask your AI coding assistant: “What are the standard public dataset repositories for [my field]?”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NAIRR-affiliated resources: ask your program contact about NAIRR's own resource index by discipline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Dataset Discovery (1/2)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Dataset Discovery: Scoping a Computational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B2523"/>
                </a:solidFill>
                <a:latin typeface="Calibri"/>
              </a:rPr>
              <a:t>Once you have a candidate dataset, don't jump straight into scripting — describe the shape of the problem first and let your AI coding assistant help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2084832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45720" cy="237744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92440" y="1892807"/>
            <a:ext cx="502920" cy="502920"/>
          </a:xfrm>
          <a:prstGeom prst="ellipse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892807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7589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B2523"/>
                </a:solidFill>
                <a:latin typeface="Calibri"/>
              </a:rPr>
              <a:t>“I have a dataset of [size, format, contents]. My assignment goal is for students to [task]. What's a reasonable step-by-step computational workflow, and which steps actually need HPC vs. which could run on a laptop?”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260"/>
                </a:solidFill>
                <a:latin typeface="Calibri"/>
              </a:rPr>
              <a:t>Not every step needs a supercomputer — this identifies the one or two genuinely heavy steps so your HPC component is meaningful, not incidental.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Dataset Discovery (2/2)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Moving Data onto HPC: Transfer Options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scp — small-to-medium files. Built into every Mac/Linux terminal and Git Bash on Windows.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rsync — larger or repeated transfers. Only copies what's changed, resumes if interrupted.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Globus — genuinely large datasets (10s of GB+). Web-based, automatic retry on drop.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Common pitfalls: path typos silently create a new folder instead of erroring; check disk quota before a big transfer; confirm a transfer is complete before submitting a job that reads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Moving Data onto HPC (1/2)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Moving Data onto HPC: Running the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Once your data is on the Morehouse Supercomputing Facility, you submit jobs to process it — idev for interactive sessions, sbatch/Slurm for batch jobs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If you don't code: describe to your AI coding assistant what you want the script to do with your uploaded dataset, and ask it to write the Slurm submission script, explained line by line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This is the technical backbone for the assignment supplementary material you build next in Module Builder, 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Moving Data onto HPC (2/2)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Module Builder, Part 2: Quiz + Assignment Material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Build the quiz with a full answer key — stays private in course-toolkit/quizzes/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Decide: do your students code? Separate question from whether you code, and it changes the assignment's structure.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Students code → a starter notebook/script with clear TODOs, submitted as their own job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Students don't code → pre-run then interpret (they get output, not a script to edit), or config-only (they change one input value and click Run All)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Either way, the graded deliverable becomes reasoning about output, not code correctness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Module 04, 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HPC ACCLIM.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HPC Acclimation, Module 2: Interactive Sessions with idev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idev starts an interactive session on the supercomputer — like getting your own temporary terminal on the big machine, instead of submitting a job and waiting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Useful for testing something quickly before running it at full scale in a batch job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launch: idev  (defaults to 30 minutes, single node)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custom: idev -p gg -N 2 -n 8 -m 150  (gg queue, 2 nodes, 150 minutes)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Once allocated, you get a compute-node command prompt for real-time, hands-on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HPC Acclimation, Module 2 (1/2) · source: docs.tacc.utexas.edu/hpc/vista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HPC ACCLIM.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HPC Acclimation, Module 2: Running Jupyter via TAP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Launch an interactive Jupyter session via idev, submitted through the TAP Analysis Portal rather than a raw terminal session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This is the same idev mechanism just covered — TAP wraps it so the session shows up as a notebook interface your students can use directly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Hands-on goal today: get one notebook running on Vista end to end before moving to batch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HPC Acclimation, Module 2 (2/2)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HPC ACCLIM.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HPC Acclimation, Module 3: Submitting Batch Jobs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536192"/>
            <a:ext cx="8321040" cy="2395728"/>
          </a:xfrm>
          <a:prstGeom prst="roundRect">
            <a:avLst>
              <a:gd name="adj" fmla="val 4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508760"/>
            <a:ext cx="8321040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544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-N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Number of nodes (required)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-N 4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-n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Total MPI tasks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-n 576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-t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Wall clock time (required)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-t 02:00:00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-p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Queue name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-p gh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-o / -e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Output / error file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-o out.log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HPC Acclimation, Module 3 (1/2) · source: docs.tacc.utexas.edu/hpc/vista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523"/>
                </a:solidFill>
                <a:latin typeface="Calibri"/>
              </a:rPr>
              <a:t>Submit with sbatch myjobscript. Critical restriction: never request specific compute nodes without TACC approval — the job gets deleted. Let Slurm allocate automatically.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HPC ACCLIM.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HPC Acclimation, Module 3: Monitoring &amp; Reading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Queues available on Vista: gg (up to 32 nodes, 48 hrs), gh (up to 64 nodes, 48 hrs), gh-dev (up to 8 nodes, 2 hrs)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MPI jobs launch with ibrun, not mpirun — the TACC-specific launcher that reads your Slurm allocation automatically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Charging model: SUs billed = (# nodes) × max(wall-clock hours, 0.25) × charge rate/node-hour; minimum 15-minute charge regardless of actual runtime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This is also exactly the kind of output an HPC-literacy exam question can test — see Day 4's exam scaffold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HPC Acclimation, Module 3 (2/2)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Grading Scale &amp; Rubrics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A fast session — set the direction here, finish independently if time runs short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Draft a grading scale and category weighting from your assessment types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Build a reusable assignment rubric template — a shape you'll apply to individual assignments later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Build an AI-use rubric with separate criteria: coders (did they understand the code their AI coding assistant helped write?), non-coders (can they explain what the generated script does?)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3 · Module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noFill/>
          <a:ln w="25400">
            <a:solidFill>
              <a:srgbClr val="86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4937760"/>
            <a:ext cx="4754880" cy="4754880"/>
          </a:xfrm>
          <a:prstGeom prst="ellipse">
            <a:avLst/>
          </a:prstGeom>
          <a:noFill/>
          <a:ln w="25400">
            <a:solidFill>
              <a:srgbClr val="86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548640"/>
            <a:ext cx="1463040" cy="146304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286000" cy="502920"/>
          </a:xfrm>
          <a:prstGeom prst="roundRect">
            <a:avLst>
              <a:gd name="adj" fmla="val 6000"/>
            </a:avLst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Case Study, Exam Scaffold + Finish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1DDE0"/>
                </a:solidFill>
                <a:latin typeface="Calibri"/>
              </a:rPr>
              <a:t>Thursday, July 30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Day 4: Today's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124712"/>
            <a:ext cx="8321040" cy="3547872"/>
          </a:xfrm>
          <a:prstGeom prst="roundRect">
            <a:avLst>
              <a:gd name="adj" fmla="val 4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8321040" cy="3547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82296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766560"/>
              </a:tblGrid>
              <a:tr h="38404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10:00–10:15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Daily agenda review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10:15–11:30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Case study example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11:30–12:30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FAQs with NotebookLM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12:30–1:30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Lunch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1:30–2:00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Draft your exam scaffold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2:00–2:30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Setting up student allocations: HPC access language for your syllabus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2:30–3:00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Finish building your module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5:00 PM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Citrus Fusion Cuisine (evening)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4 · Thursday, July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Case Study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A worked example of a full HPC-based course module, start to finish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Purpose: ground what you're building this week against a real reference point before you finish your own module this afternoon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Look for how the example handles the public/private split, the HPC component's scale-first justification, and the coder/non-coder assignment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4 · Case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FAQs with NotebookLM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NotebookLM is an AI research and Q&amp;A tool that grounds its answers in documents you upload to it, rather than general web knowledge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Use case this week: load your own course materials (syllabus, module docs, program resources) and ask it FAQ-style questions your students are likely to ask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Good for generating a first-pass FAQ page or office-hours prep sheet grounded in what you've actually written, not generic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4 · FAQs with NotebookLM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Draft Your Exam Scaffold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B2523"/>
                </a:solidFill>
                <a:latin typeface="Calibri"/>
              </a:rPr>
              <a:t>A midterm scaffold mixing conceptual and applied questions, with an answer key kept in the same private 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084832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8229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45720" cy="237744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92440" y="1892807"/>
            <a:ext cx="502920" cy="502920"/>
          </a:xfrm>
          <a:prstGeom prst="ellipse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892807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40280"/>
            <a:ext cx="7589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B2523"/>
                </a:solidFill>
                <a:latin typeface="Calibri"/>
              </a:rPr>
              <a:t>“Draft a midterm exam scaffold for [course topic], covering these outcomes: [paste from learning-outcomes-map.md]. Mix conceptual and applied questions.”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260"/>
                </a:solidFill>
                <a:latin typeface="Calibri"/>
              </a:rPr>
              <a:t>Include at least one HPC-literacy question that doesn't require the student to have written code themselves — e.g. “Here's Slurm job output; what happened, and what would you check next?”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4 · Module 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HPC Access Language for Your Syllabus: Timeline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Students need the same account path you followed pre-event: request at bpccenter.org/current-programs/cbpc-hpc-resources with a .edu email, approval within a few business days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Build in lead time — request this well before the assignment is due, not the week of, exactly like your own account setup this summer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MFA (Duo/Okta) setup follows approval, same as your own onboarding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Program contact for account questions: Dr. Ashley Scruse, Deputy Director (ashley.scruse@morehouse.edu)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4 · HPC Access Language (1/2)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HPC Access Language for Your Syllabus: Conduct &amp; Suggested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Students should know before their first login: no compute-intensive work on login nodes, stage data through $SCRATCH not $WORK, and accounts can be suspended for impacting other users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Suggested syllabus paragraph: “This course uses the Morehouse Supercomputing Facility (Vista). Request access by [date] at [link]; approval takes several business days. You are responsible for following TACC's acceptable-use policy — questions go to [contact].”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This directly supports the HPC-literacy exam question from Module 06 — students who understand the policy context read job output more confidently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4 · HPC Access Language (2/2)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Finish Building Your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7589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course-site/modules/module-XX.md links to everything: slides, assignment, quiz link (not quiz content)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Full prep notes complete in course-toolkit/lecture-prep-notes/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Quiz with answer key complete in course-toolkit/quizzes/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Assignment supplementary material complete in course-site/resources.md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Public file re-checked — no answer keys, grading notes, or private prep content leaked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4 · Module 04, Part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noFill/>
          <a:ln w="25400">
            <a:solidFill>
              <a:srgbClr val="86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4937760"/>
            <a:ext cx="4754880" cy="4754880"/>
          </a:xfrm>
          <a:prstGeom prst="ellipse">
            <a:avLst/>
          </a:prstGeom>
          <a:noFill/>
          <a:ln w="25400">
            <a:solidFill>
              <a:srgbClr val="86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548640"/>
            <a:ext cx="1463040" cy="146304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286000" cy="502920"/>
          </a:xfrm>
          <a:prstGeom prst="roundRect">
            <a:avLst>
              <a:gd name="adj" fmla="val 6000"/>
            </a:avLst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Publish, Share, Plan, and Sustain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1DDE0"/>
                </a:solidFill>
                <a:latin typeface="Calibri"/>
              </a:rPr>
              <a:t>Friday, July 31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Day 5: Today's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124712"/>
            <a:ext cx="8321040" cy="3931920"/>
          </a:xfrm>
          <a:prstGeom prst="roundRect">
            <a:avLst>
              <a:gd name="adj" fmla="val 4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832104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766560"/>
              </a:tblGrid>
              <a:tr h="38404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10:00–10:15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Daily agenda review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10:15–11:00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Publish course site; office hours setup; export to Canva &amp; Blackboard; reuse template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11:15–12:00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Building your 90-day implementation plan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12:30–1:30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Lunch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1:30–2:00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Using NAIRR resources beyond this week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2:00–2:30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Program evaluation, led by Dr. Mi'Kayla Newell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2:30–2:55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Before program ends: final checklist review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2:55–3:00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Closing remarks &amp; group picture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Evening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523"/>
                          </a:solidFill>
                          <a:latin typeface="Calibri"/>
                        </a:rPr>
                        <a:t>Beach day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5 · Friday, July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Publish Your Course Site: Leak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Before turning anything on, confirm none of the following are present in course-site: answer keys, grading weights, student data (even de-identified samples), private prep notes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If comfortable with git, a literal diff between the two repos' structure can help spot anything that crossed over by accident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GitHub Pages is one option for sharing your site, not a requirement — exporting to Google Classroom, Canvas, or Blackboard works just as well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5 · Module 09 (1/2)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Publish Your Course Site: Going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course-site → Settings → Pages → set source branch (usually main) → save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Visit the published URL together; click through every page — syllabus, schedule, modules, resources, office hours — confirm nothing 404s and nothing private is visible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Note what you'll need to update each semester (dates, office hours link, semester-specific policy language) so future-you isn't starting from scratch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5 · Module 09 (2/2)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Office Hours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Set up your booking link — Calendly (if created pre-event) or Teams, per your institution's setup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Write a short policy: format (in-person/virtual), what students should bring, response-time expectations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Publish both into course-site/office-hours.md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5 · Module 08 (1/2)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Canva &amp; Blackboard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Export Module 4's slide decks and other visual materials for your LMS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If your campus LMS admin confirmed Canva–Blackboard LTI is enabled pre-event, walk through the export now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LTI (Learning Tools Interoperability) is the technical handshake that lets Canva plug directly into Blackboard — slides go straight from Canva into your course page instead of manual download/re-upload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Not enabled yet? Note it as a pending item for your 90-day plan rather than blocking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5 · Module 08 (2/2)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0" y="2468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5E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"/>
            <a:ext cx="6355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Reuse This Template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Confirm both course-site and course-toolkit are set as GitHub template repos (Settings → Template repository)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“Use this template” produces a clean copy, no shared commit history, ready to rename for your next course or cohort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Carries over cleanly: repo structure, rubric templates, the AI-use rubric, this Builder Guide walkthrough itself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1">
                <a:solidFill>
                  <a:srgbClr val="2B2523"/>
                </a:solidFill>
                <a:latin typeface="Calibri"/>
              </a:rPr>
              <a:t>Needs rebuilding each time: learning outcomes, curriculum map, actual module content, exam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5 · Module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90-Day Implementation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Note which toolkit artifacts are still pending, and what department or institutional buy-in you still need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Connect directly to what carries over vs. rebuilds from the previous session — use that list as your starting checklist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Be specific: what ships in the Fall semester, and what's realistically a “next cohort”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5 · 90-Day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Using NAIRR Resources Beyond This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534924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5895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Continued access &amp; community of practice — your access to NAIRR resources doesn't end when the accelerator does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Join the NAIRR community-of-practice listserv to stay connected with this cohort and past ones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Optional, self-paced CS-track modules available anytime: Module 11 (Parallel Computing with MPI &amp; OpenMP), Module 12 (Containerization for Reproducibility), and Module 13 (ML Hub for Tapis) — for instructors who want more technical depth than the general track covers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●  </a:t>
            </a:r>
            <a:r>
              <a:rPr sz="1600" b="0">
                <a:solidFill>
                  <a:srgbClr val="2B2523"/>
                </a:solidFill>
                <a:latin typeface="Calibri"/>
              </a:rPr>
              <a:t>Module 07 (AI for Grading &amp; Attendance) is also optional and self-paced, for whenever you're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5 · Beyond 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Before You Leave: Final Checklist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124712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5349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589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Course site finished and shared however you've chosen — published, exported to your LMS, or both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Private repo confirmed still private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Program evaluation survey completed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Joined the NAIRR community-of-practice listserv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862633"/>
                </a:solidFill>
                <a:latin typeface="Calibri"/>
              </a:rPr>
              <a:t>☐  </a:t>
            </a:r>
            <a:r>
              <a:rPr sz="1600">
                <a:solidFill>
                  <a:srgbClr val="2B2523"/>
                </a:solidFill>
                <a:latin typeface="Calibri"/>
              </a:rPr>
              <a:t>Exchanged contact info with your track peers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Day 5 · Final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Departure: Before Program Ends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124712"/>
            <a:ext cx="8321040" cy="2395728"/>
          </a:xfrm>
          <a:prstGeom prst="roundRect">
            <a:avLst>
              <a:gd name="adj" fmla="val 4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8321040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126480"/>
              </a:tblGrid>
              <a:tr h="38404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By end of Day 5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Confirm public repo published, private repo still private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By end of Day 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Complete the program evaluation survey, if not finished Friday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By end of Day 5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Join the NAIRR community-of-practice listserv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By end of Day 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Exchange contact info with your track peers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Saturday, Aug 1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2523"/>
                          </a:solidFill>
                          <a:latin typeface="Calibri"/>
                        </a:rPr>
                        <a:t>Travel home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Departure · Saturday, August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86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A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320040"/>
            <a:ext cx="1188720" cy="1188720"/>
          </a:xfrm>
          <a:prstGeom prst="ellipse">
            <a:avLst/>
          </a:prstGeom>
          <a:noFill/>
          <a:ln w="15875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7680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Full Builder Guide: All 13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33272"/>
            <a:ext cx="8321040" cy="5468112"/>
          </a:xfrm>
          <a:prstGeom prst="roundRect">
            <a:avLst>
              <a:gd name="adj" fmla="val 4000"/>
            </a:avLst>
          </a:prstGeom>
          <a:solidFill>
            <a:srgbClr val="E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05840"/>
            <a:ext cx="8321040" cy="5468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51560"/>
          <a:ext cx="822960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389120"/>
                <a:gridCol w="3200400"/>
              </a:tblGrid>
              <a:tr h="384048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T="50800" marB="50800">
                    <a:solidFill>
                      <a:srgbClr val="8626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00–01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Set Up Your Repos &amp; Environment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Learning Outcomes → Curriculum Map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Draft Your Syllabus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Module Builder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3 parts, spans Days 2–4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Grading Scale &amp; Rubrics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Exam Scaffold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AI for Grading &amp; Attendance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optional, self-paced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Office Hours Setup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Publish Your Course Site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Reuse This Template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Parallel Computing (MPI/OpenMP)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optional, CS track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Containerization for Reproducibility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optional, CS track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ML Hub for Tapis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523"/>
                          </a:solidFill>
                          <a:latin typeface="Calibri"/>
                        </a:rPr>
                        <a:t>optional, CS track</a:t>
                      </a:r>
                    </a:p>
                  </a:txBody>
                  <a:tcPr marT="38100" marB="38100">
                    <a:solidFill>
                      <a:srgbClr val="FBF3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53796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1381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260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6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5029200"/>
            <a:ext cx="4206240" cy="4206240"/>
          </a:xfrm>
          <a:prstGeom prst="ellipse">
            <a:avLst/>
          </a:prstGeom>
          <a:noFill/>
          <a:ln w="31750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1463040"/>
            <a:ext cx="3657600" cy="3657600"/>
          </a:xfrm>
          <a:prstGeom prst="ellipse">
            <a:avLst/>
          </a:prstGeom>
          <a:noFill/>
          <a:ln w="31750">
            <a:solidFill>
              <a:srgbClr val="A84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Thank You for Building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F1DDE0"/>
                </a:solidFill>
                <a:latin typeface="Calibri"/>
              </a:rPr>
              <a:t>●  </a:t>
            </a:r>
            <a:r>
              <a:rPr sz="1500" b="0">
                <a:solidFill>
                  <a:srgbClr val="FFFFFF"/>
                </a:solidFill>
                <a:latin typeface="Calibri"/>
              </a:rPr>
              <a:t>NAIRR community-of-practice listserv — stay connected beyond this week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F1DDE0"/>
                </a:solidFill>
                <a:latin typeface="Calibri"/>
              </a:rPr>
              <a:t>●  </a:t>
            </a:r>
            <a:r>
              <a:rPr sz="1500" b="0">
                <a:solidFill>
                  <a:srgbClr val="FFFFFF"/>
                </a:solidFill>
                <a:latin typeface="Calibri"/>
              </a:rPr>
              <a:t>nairrpilot.org — continued compute, cloud, and AI resources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F1DDE0"/>
                </a:solidFill>
                <a:latin typeface="Calibri"/>
              </a:rPr>
              <a:t>●  </a:t>
            </a:r>
            <a:r>
              <a:rPr sz="1500" b="0">
                <a:solidFill>
                  <a:srgbClr val="FFFFFF"/>
                </a:solidFill>
                <a:latin typeface="Calibri"/>
              </a:rPr>
              <a:t>Program contact: Dr. Ashley Scruse, Deputy Director (ashley.scruse@morehouse.edu)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1DDE0"/>
                </a:solidFill>
                <a:latin typeface="Calibri"/>
              </a:rPr>
              <a:t>NAIRR Teaching and Curriculum Innovation · Cohort 3 · Morehouse Supercomputing Facility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