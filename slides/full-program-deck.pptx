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100584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NAIRR Teaching Innovation Accelerator — Program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995851" cy="777240"/>
          </a:xfrm>
          <a:prstGeom prst="roundRect">
            <a:avLst/>
          </a:prstGeom>
          <a:solidFill>
            <a:srgbClr val="5E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Pre-Event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Sun, Jul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Create TACC account + MFA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Install Git, VS Code/Antigravity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Create GitHub account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Upload syllabus + policy checklist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Welcome reception, evening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8771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8771" y="1280160"/>
            <a:ext cx="5995851" cy="777240"/>
          </a:xfrm>
          <a:prstGeom prst="round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Day 1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Mon, Jul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5931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Tour of NAIRR ecosystem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Set up course-site + course-toolkit repos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Connect Claude Code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Draft learning outcomes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00-01, 02 (Part 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723222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723222" y="1280160"/>
            <a:ext cx="5995851" cy="777240"/>
          </a:xfrm>
          <a:prstGeom prst="roundRect">
            <a:avLst/>
          </a:prstGeom>
          <a:solidFill>
            <a:srgbClr val="5E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Day 2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Tue, Jul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60382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Build curriculum map &amp; schedule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Draft syllabus skeleton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HPC Acclimation Module 1 (Tapis)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Builder Part 1: outline + slides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02 (Part 2), 03, 04 (Part 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947674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947674" y="1280160"/>
            <a:ext cx="5995851" cy="777240"/>
          </a:xfrm>
          <a:prstGeom prst="round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Day 3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Wed, Jul 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84834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Dataset discovery for HPC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Builder Part 2: quiz + materials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Move data onto TACC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HPC Acclimation Modules 2-3 (Jupyter, monitoring)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04 (Part 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72125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5172125" y="1280160"/>
            <a:ext cx="5995851" cy="777240"/>
          </a:xfrm>
          <a:prstGeom prst="roundRect">
            <a:avLst/>
          </a:prstGeom>
          <a:solidFill>
            <a:srgbClr val="5E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Day 4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Thu, Jul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09285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Grading scale &amp; rubrics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Exam scaffold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Office hours + Canva/Blackboard export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NAIRR/TACC access language for syllabus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04 (Part 3), 05, 06, 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396577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396577" y="1280160"/>
            <a:ext cx="5995851" cy="777240"/>
          </a:xfrm>
          <a:prstGeom prst="round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Day 5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Fri, Jul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33737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Publish course site (GitHub Pages)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Reuse this template for next time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Build 90-day implementation plan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Program evaluation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Module 09,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21028" y="1280160"/>
            <a:ext cx="5995851" cy="5760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621028" y="1280160"/>
            <a:ext cx="5995851" cy="777240"/>
          </a:xfrm>
          <a:prstGeom prst="roundRect">
            <a:avLst/>
          </a:prstGeom>
          <a:solidFill>
            <a:srgbClr val="5E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Departure</a:t>
            </a:r>
          </a:p>
          <a:p>
            <a:pPr>
              <a:defRPr sz="1200">
                <a:solidFill>
                  <a:srgbClr val="F1DDE0"/>
                </a:solidFill>
              </a:defRPr>
            </a:pPr>
            <a:r>
              <a:t>Sat, Aug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58188" y="2194560"/>
            <a:ext cx="5721531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Confirm public repo published, private repo private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Complete program evaluation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Join community-of-practice listserv</a:t>
            </a:r>
          </a:p>
          <a:p>
            <a:pPr>
              <a:spcAft>
                <a:spcPts val="600"/>
              </a:spcAft>
              <a:defRPr sz="1200">
                <a:solidFill>
                  <a:srgbClr val="2B2523"/>
                </a:solidFill>
              </a:defRPr>
            </a:pPr>
            <a:r>
              <a:t>•  Travel 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862633"/>
                </a:solidFill>
              </a:defRPr>
            </a:pPr>
            <a:r>
              <a:t>Day 1</a:t>
            </a:r>
          </a:p>
          <a:p>
            <a:pPr>
              <a:defRPr sz="2600">
                <a:solidFill>
                  <a:srgbClr val="2B2523"/>
                </a:solidFill>
              </a:defRPr>
            </a:pPr>
            <a:r>
              <a:t>Set Up — GitHub Course Builder</a:t>
            </a:r>
          </a:p>
          <a:p>
            <a:pPr>
              <a:defRPr sz="1600">
                <a:solidFill>
                  <a:srgbClr val="5E1A24"/>
                </a:solidFill>
              </a:defRPr>
            </a:pPr>
            <a:r>
              <a:t>Monday, July 27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94560"/>
            <a:ext cx="2743200" cy="5080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Today's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9:30 – 10:00 AM — Arrival, coffee, networking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10:00 – 10:30 AM — Welcome from TACC, agenda review &amp; introductions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10:30 – 12:30 PM — Tour of NAIRR; set up course-builder repos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12:30 – 1:30 PM — Lunch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1:30 – 2:00 PM — What's safe, what's not (AI &amp; shared repos)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2:00 – 2:15 PM — Scale-first design: why HPC?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2:15 – 3:00 PM — Creating and mapping your learning outcomes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Evening — All White Party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Create course-site (public) and course-toolkit (private) repos from the template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Clone both locally, side by side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Connect Claude Code (VS Code or Antigravity)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Send one test prompt to confirm the connection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Draft 3-5 learning outcomes, at least one HPC-based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862633"/>
                </a:solidFill>
              </a:defRPr>
            </a:pPr>
            <a:r>
              <a:t>Day 2</a:t>
            </a:r>
          </a:p>
          <a:p>
            <a:pPr>
              <a:defRPr sz="2600">
                <a:solidFill>
                  <a:srgbClr val="2B2523"/>
                </a:solidFill>
              </a:defRPr>
            </a:pPr>
            <a:r>
              <a:t>HPC Acclimation + Curriculum Map</a:t>
            </a:r>
          </a:p>
          <a:p>
            <a:pPr>
              <a:defRPr sz="1600">
                <a:solidFill>
                  <a:srgbClr val="5E1A24"/>
                </a:solidFill>
              </a:defRPr>
            </a:pPr>
            <a:r>
              <a:t>Tuesday, July 28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94560"/>
            <a:ext cx="2743200" cy="5080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Today's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10:00 – 10:15 AM — Daily agenda review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10:15 – 11:00 AM — Build your curriculum map &amp; schedule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11:00 – 12:00 PM — Faculty Fellows Panel I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12:00 – 12:30 PM — Draft your syllabus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12:30 – 1:30 PM — Lunch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1:30 – 3:00 PM — HPC Acclimation Module 1 (Tapis); Module Builder Part 1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3:00 – 4:00 PM — Faculty Fellows Panel II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Evening — Souvenir shop trip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Sequence your outcomes into a full curriculum map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Publish the public schedule (topics + due dates only)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Draft your syllabus skeleton, placeholders marked for later content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Pick one module and build its lecture outline + slide deck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Get hands-on with Tapis for the first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862633"/>
                </a:solidFill>
              </a:defRPr>
            </a:pPr>
            <a:r>
              <a:t>Day 3</a:t>
            </a:r>
          </a:p>
          <a:p>
            <a:pPr>
              <a:defRPr sz="2600">
                <a:solidFill>
                  <a:srgbClr val="2B2523"/>
                </a:solidFill>
              </a:defRPr>
            </a:pPr>
            <a:r>
              <a:t>Module Builder Continues + HPC Hands-On</a:t>
            </a:r>
          </a:p>
          <a:p>
            <a:pPr>
              <a:defRPr sz="1600">
                <a:solidFill>
                  <a:srgbClr val="5E1A24"/>
                </a:solidFill>
              </a:defRPr>
            </a:pPr>
            <a:r>
              <a:t>Wednesday, July 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94560"/>
            <a:ext cx="2743200" cy="5080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Today's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10:00 – 10:15 AM — Daily agenda review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10:15 – 10:30 AM — Dataset discovery for HPC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10:30 – 11:30 AM — Module Builder Part 2: quiz + assignment material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11:30 – 12:30 PM — Walkthrough: moving data onto HPC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12:30 – 1:30 PM — Lunch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1:30 – 2:30 PM — HPC Acclimation Modules 2-3 (Jupyter via idev, monitoring jobs)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Evening — Beach day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Build your quiz with answer key (private toolkit)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Build assignment supplementary material (public course site)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Move your dataset onto TACC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Run an interactive Jupyter session via idev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Learn to read and monitor job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862633"/>
                </a:solidFill>
              </a:defRPr>
            </a:pPr>
            <a:r>
              <a:t>Day 4</a:t>
            </a:r>
          </a:p>
          <a:p>
            <a:pPr>
              <a:defRPr sz="2600">
                <a:solidFill>
                  <a:srgbClr val="2B2523"/>
                </a:solidFill>
              </a:defRPr>
            </a:pPr>
            <a:r>
              <a:t>Grading, Exams, Office Hours</a:t>
            </a:r>
          </a:p>
          <a:p>
            <a:pPr>
              <a:defRPr sz="1600">
                <a:solidFill>
                  <a:srgbClr val="5E1A24"/>
                </a:solidFill>
              </a:defRPr>
            </a:pPr>
            <a:r>
              <a:t>Thursday, July 30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94560"/>
            <a:ext cx="2743200" cy="5080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Today's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10:00 – 10:15 AM — Daily agenda review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10:15 – 10:30 AM — Grading scale &amp; rubrics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10:45 – 11:30 AM — Draft your exam scaffold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11:30 AM – 12:30 PM — FAQs with NotebookLM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12:30 – 1:30 PM — Lunch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1:30 – 2:00 PM — Office hours setup + Canva/Blackboard export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2:00 – 2:30 PM — NAIRR/TACC access language for your syllabus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2:30 – 3:00 PM — Finish building your module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Evening — Mall trip + farewell dinner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Draft grading scale + assignment rubric + AI-use rubric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Build a midterm exam scaffold with answer key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Set up office hours booking link + policy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Fill in NAIRR/TACC access language in your syllabus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Close any remaining gaps in your built module; leak-check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862633"/>
                </a:solidFill>
              </a:defRPr>
            </a:pPr>
            <a:r>
              <a:t>Day 5</a:t>
            </a:r>
          </a:p>
          <a:p>
            <a:pPr>
              <a:defRPr sz="2600">
                <a:solidFill>
                  <a:srgbClr val="2B2523"/>
                </a:solidFill>
              </a:defRPr>
            </a:pPr>
            <a:r>
              <a:t>Publish, Share, Plan, and Sustain</a:t>
            </a:r>
          </a:p>
          <a:p>
            <a:pPr>
              <a:defRPr sz="1600">
                <a:solidFill>
                  <a:srgbClr val="5E1A24"/>
                </a:solidFill>
              </a:defRPr>
            </a:pPr>
            <a:r>
              <a:t>Friday, July 31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94560"/>
            <a:ext cx="2743200" cy="5080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Today's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10:00 – 10:15 AM — Daily agenda review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10:15 – 11:00 AM — Publish your course site; reuse the template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11:15 AM – 12:00 PM — Building your 90-day implementation plan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12:30 – 1:30 PM — Lunch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1:30 – 2:00 PM — Using NAIRR resources beyond this week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2:00 – 2:30 PM — Program evaluation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2:30 – 2:55 PM — Final checklist review</a:t>
            </a:r>
          </a:p>
          <a:p>
            <a:pPr>
              <a:spcAft>
                <a:spcPts val="800"/>
              </a:spcAft>
              <a:defRPr sz="1500">
                <a:solidFill>
                  <a:srgbClr val="2B2523"/>
                </a:solidFill>
              </a:defRPr>
            </a:pPr>
            <a:r>
              <a:t>•  2:55 – 3:00 PM — Closing remarks &amp; group picture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86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3716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Run the pre-publish leak check on course-site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Turn on GitHub Pages and verify the live site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Confirm both repos are set as GitHub templates</a:t>
            </a:r>
          </a:p>
          <a:p>
            <a:pPr>
              <a:spcAft>
                <a:spcPts val="800"/>
              </a:spcAft>
              <a:defRPr sz="1700">
                <a:solidFill>
                  <a:srgbClr val="2B2523"/>
                </a:solidFill>
              </a:defRPr>
            </a:pPr>
            <a:r>
              <a:t>•  Draft your 90-day implementation 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